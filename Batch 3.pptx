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8" r:id="rId12"/>
    <p:sldId id="266" r:id="rId13"/>
    <p:sldId id="269" r:id="rId14"/>
    <p:sldId id="267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884158-3F48-478D-812A-2BB67A13A4FC}" v="5" dt="2026-10-04T13:42:26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e Harini" userId="a37404beaf92154f" providerId="LiveId" clId="{1E987972-5935-4F63-8004-E33DF063F805}"/>
    <pc:docChg chg="modSld sldOrd">
      <pc:chgData name="Shree Harini" userId="a37404beaf92154f" providerId="LiveId" clId="{1E987972-5935-4F63-8004-E33DF063F805}" dt="2026-10-04T13:43:42.230" v="82" actId="20577"/>
      <pc:docMkLst>
        <pc:docMk/>
      </pc:docMkLst>
      <pc:sldChg chg="modSp mod">
        <pc:chgData name="Shree Harini" userId="a37404beaf92154f" providerId="LiveId" clId="{1E987972-5935-4F63-8004-E33DF063F805}" dt="2026-10-04T13:42:30.419" v="71" actId="20577"/>
        <pc:sldMkLst>
          <pc:docMk/>
          <pc:sldMk cId="0" sldId="258"/>
        </pc:sldMkLst>
        <pc:spChg chg="mod">
          <ac:chgData name="Shree Harini" userId="a37404beaf92154f" providerId="LiveId" clId="{1E987972-5935-4F63-8004-E33DF063F805}" dt="2026-10-04T13:42:30.419" v="71" actId="20577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Shree Harini" userId="a37404beaf92154f" providerId="LiveId" clId="{1E987972-5935-4F63-8004-E33DF063F805}" dt="2026-10-04T13:36:53.782" v="8" actId="2711"/>
        <pc:sldMkLst>
          <pc:docMk/>
          <pc:sldMk cId="0" sldId="259"/>
        </pc:sldMkLst>
        <pc:spChg chg="mod">
          <ac:chgData name="Shree Harini" userId="a37404beaf92154f" providerId="LiveId" clId="{1E987972-5935-4F63-8004-E33DF063F805}" dt="2026-10-04T13:36:53.782" v="8" actId="2711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Shree Harini" userId="a37404beaf92154f" providerId="LiveId" clId="{1E987972-5935-4F63-8004-E33DF063F805}" dt="2026-10-04T13:37:23.377" v="12" actId="1076"/>
        <pc:sldMkLst>
          <pc:docMk/>
          <pc:sldMk cId="0" sldId="260"/>
        </pc:sldMkLst>
        <pc:spChg chg="mod">
          <ac:chgData name="Shree Harini" userId="a37404beaf92154f" providerId="LiveId" clId="{1E987972-5935-4F63-8004-E33DF063F805}" dt="2026-10-04T13:37:23.377" v="12" actId="1076"/>
          <ac:spMkLst>
            <pc:docMk/>
            <pc:sldMk cId="0" sldId="260"/>
            <ac:spMk id="7" creationId="{00000000-0000-0000-0000-000000000000}"/>
          </ac:spMkLst>
        </pc:spChg>
      </pc:sldChg>
      <pc:sldChg chg="ord">
        <pc:chgData name="Shree Harini" userId="a37404beaf92154f" providerId="LiveId" clId="{1E987972-5935-4F63-8004-E33DF063F805}" dt="2026-10-04T11:42:42.725" v="1"/>
        <pc:sldMkLst>
          <pc:docMk/>
          <pc:sldMk cId="0" sldId="265"/>
        </pc:sldMkLst>
      </pc:sldChg>
      <pc:sldChg chg="modSp mod">
        <pc:chgData name="Shree Harini" userId="a37404beaf92154f" providerId="LiveId" clId="{1E987972-5935-4F63-8004-E33DF063F805}" dt="2026-10-04T13:40:04.547" v="25" actId="14100"/>
        <pc:sldMkLst>
          <pc:docMk/>
          <pc:sldMk cId="0" sldId="266"/>
        </pc:sldMkLst>
        <pc:spChg chg="mod">
          <ac:chgData name="Shree Harini" userId="a37404beaf92154f" providerId="LiveId" clId="{1E987972-5935-4F63-8004-E33DF063F805}" dt="2026-10-04T13:40:04.547" v="25" actId="14100"/>
          <ac:spMkLst>
            <pc:docMk/>
            <pc:sldMk cId="0" sldId="266"/>
            <ac:spMk id="7" creationId="{00000000-0000-0000-0000-000000000000}"/>
          </ac:spMkLst>
        </pc:spChg>
      </pc:sldChg>
      <pc:sldChg chg="modSp mod">
        <pc:chgData name="Shree Harini" userId="a37404beaf92154f" providerId="LiveId" clId="{1E987972-5935-4F63-8004-E33DF063F805}" dt="2026-10-04T13:39:28.965" v="21" actId="14100"/>
        <pc:sldMkLst>
          <pc:docMk/>
          <pc:sldMk cId="0" sldId="267"/>
        </pc:sldMkLst>
        <pc:spChg chg="mod">
          <ac:chgData name="Shree Harini" userId="a37404beaf92154f" providerId="LiveId" clId="{1E987972-5935-4F63-8004-E33DF063F805}" dt="2026-10-04T13:39:28.965" v="21" actId="14100"/>
          <ac:spMkLst>
            <pc:docMk/>
            <pc:sldMk cId="0" sldId="267"/>
            <ac:spMk id="7" creationId="{00000000-0000-0000-0000-000000000000}"/>
          </ac:spMkLst>
        </pc:spChg>
      </pc:sldChg>
      <pc:sldChg chg="modSp mod ord">
        <pc:chgData name="Shree Harini" userId="a37404beaf92154f" providerId="LiveId" clId="{1E987972-5935-4F63-8004-E33DF063F805}" dt="2026-10-04T13:38:45.627" v="13" actId="2711"/>
        <pc:sldMkLst>
          <pc:docMk/>
          <pc:sldMk cId="0" sldId="268"/>
        </pc:sldMkLst>
        <pc:spChg chg="mod">
          <ac:chgData name="Shree Harini" userId="a37404beaf92154f" providerId="LiveId" clId="{1E987972-5935-4F63-8004-E33DF063F805}" dt="2026-10-04T13:38:45.627" v="13" actId="2711"/>
          <ac:spMkLst>
            <pc:docMk/>
            <pc:sldMk cId="0" sldId="268"/>
            <ac:spMk id="10" creationId="{00000000-0000-0000-0000-000000000000}"/>
          </ac:spMkLst>
        </pc:spChg>
      </pc:sldChg>
      <pc:sldChg chg="ord">
        <pc:chgData name="Shree Harini" userId="a37404beaf92154f" providerId="LiveId" clId="{1E987972-5935-4F63-8004-E33DF063F805}" dt="2026-10-04T11:43:28.139" v="7"/>
        <pc:sldMkLst>
          <pc:docMk/>
          <pc:sldMk cId="0" sldId="269"/>
        </pc:sldMkLst>
      </pc:sldChg>
      <pc:sldChg chg="modSp mod">
        <pc:chgData name="Shree Harini" userId="a37404beaf92154f" providerId="LiveId" clId="{1E987972-5935-4F63-8004-E33DF063F805}" dt="2026-10-04T13:43:42.230" v="82" actId="20577"/>
        <pc:sldMkLst>
          <pc:docMk/>
          <pc:sldMk cId="0" sldId="271"/>
        </pc:sldMkLst>
        <pc:spChg chg="mod">
          <ac:chgData name="Shree Harini" userId="a37404beaf92154f" providerId="LiveId" clId="{1E987972-5935-4F63-8004-E33DF063F805}" dt="2026-10-04T13:43:42.230" v="82" actId="20577"/>
          <ac:spMkLst>
            <pc:docMk/>
            <pc:sldMk cId="0" sldId="271"/>
            <ac:spMk id="5" creationId="{00000000-0000-0000-0000-000000000000}"/>
          </ac:spMkLst>
        </pc:spChg>
      </pc:sldChg>
      <pc:sldChg chg="modSp mod">
        <pc:chgData name="Shree Harini" userId="a37404beaf92154f" providerId="LiveId" clId="{1E987972-5935-4F63-8004-E33DF063F805}" dt="2026-10-04T13:39:54.595" v="24" actId="14100"/>
        <pc:sldMkLst>
          <pc:docMk/>
          <pc:sldMk cId="0" sldId="272"/>
        </pc:sldMkLst>
        <pc:spChg chg="mod">
          <ac:chgData name="Shree Harini" userId="a37404beaf92154f" providerId="LiveId" clId="{1E987972-5935-4F63-8004-E33DF063F805}" dt="2026-10-04T13:39:54.595" v="24" actId="14100"/>
          <ac:spMkLst>
            <pc:docMk/>
            <pc:sldMk cId="0" sldId="272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"/>
            <a:ext cx="8092440" cy="13533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C3A69"/>
                </a:solidFill>
                <a:latin typeface="Times New Roman"/>
              </a:defRPr>
            </a:pPr>
            <a:r>
              <a:rPr>
                <a:solidFill/>
              </a:rPr>
              <a:t>DEPARTMENT OF ARTIFICIAL INTELLIGENCE AND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17420"/>
            <a:ext cx="76809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C3A69"/>
                </a:solidFill>
                <a:latin typeface="Times New Roman"/>
              </a:defRPr>
            </a:pPr>
            <a:r>
              <a:rPr lang="en-IN" dirty="0">
                <a:solidFill/>
              </a:rPr>
              <a:t>AGI1242 - </a:t>
            </a:r>
            <a:r>
              <a:rPr dirty="0">
                <a:solidFill/>
              </a:rPr>
              <a:t>MACHINE LEARNING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" y="2753467"/>
            <a:ext cx="7680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latin typeface="Arial"/>
              </a:defRPr>
            </a:pPr>
            <a:r>
              <a:rPr dirty="0">
                <a:solidFill/>
              </a:rPr>
              <a:t>BATCH </a:t>
            </a:r>
            <a:r>
              <a:rPr lang="en-IN" dirty="0">
                <a:solidFill/>
              </a:rPr>
              <a:t>3</a:t>
            </a:r>
            <a:endParaRPr dirty="0">
              <a:solidFill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latin typeface="Arial"/>
              </a:defRPr>
            </a:pPr>
            <a:r>
              <a:rPr>
                <a:solidFill/>
              </a:rPr>
              <a:t>Presented By:</a:t>
            </a:r>
          </a:p>
          <a:p>
            <a:pPr>
              <a:spcAft>
                <a:spcPts val="300"/>
              </a:spcAft>
              <a:defRPr sz="1600" b="0">
                <a:latin typeface="Arial"/>
              </a:defRPr>
            </a:pPr>
            <a:r>
              <a:rPr>
                <a:solidFill/>
              </a:rPr>
              <a:t>2503811724322075 – Pratheepa G</a:t>
            </a:r>
          </a:p>
          <a:p>
            <a:pPr>
              <a:spcAft>
                <a:spcPts val="300"/>
              </a:spcAft>
              <a:defRPr sz="1600" b="0">
                <a:latin typeface="Arial"/>
              </a:defRPr>
            </a:pPr>
            <a:r>
              <a:rPr>
                <a:solidFill/>
              </a:rPr>
              <a:t>2503811724322086 – Roshini D</a:t>
            </a:r>
          </a:p>
          <a:p>
            <a:pPr>
              <a:spcAft>
                <a:spcPts val="300"/>
              </a:spcAft>
              <a:defRPr sz="1600" b="0">
                <a:latin typeface="Arial"/>
              </a:defRPr>
            </a:pPr>
            <a:r>
              <a:rPr>
                <a:solidFill/>
              </a:rPr>
              <a:t>2503811724322090 – Sanjanaa S</a:t>
            </a:r>
          </a:p>
          <a:p>
            <a:pPr>
              <a:spcAft>
                <a:spcPts val="300"/>
              </a:spcAft>
              <a:defRPr sz="1600" b="0">
                <a:latin typeface="Arial"/>
              </a:defRPr>
            </a:pPr>
            <a:r>
              <a:rPr>
                <a:solidFill/>
              </a:rPr>
              <a:t>2503811724322099 – Shree Harini K A</a:t>
            </a:r>
          </a:p>
          <a:p>
            <a:pPr>
              <a:spcAft>
                <a:spcPts val="300"/>
              </a:spcAft>
              <a:defRPr sz="1600" b="0">
                <a:latin typeface="Arial"/>
              </a:defRPr>
            </a:pPr>
            <a:r>
              <a:rPr>
                <a:solidFill/>
              </a:rPr>
              <a:t>2503811724321121 – Vishal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2054" y="3518114"/>
            <a:ext cx="2233306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latin typeface="Arial"/>
              </a:defRPr>
            </a:pPr>
            <a:r>
              <a:rPr dirty="0">
                <a:solidFill/>
              </a:rPr>
              <a:t>Guided By:</a:t>
            </a:r>
          </a:p>
          <a:p>
            <a:pPr>
              <a:spcAft>
                <a:spcPts val="300"/>
              </a:spcAft>
              <a:defRPr sz="1500" b="0">
                <a:latin typeface="Arial"/>
              </a:defRPr>
            </a:pPr>
            <a:r>
              <a:rPr dirty="0" err="1">
                <a:solidFill/>
              </a:rPr>
              <a:t>Mr.P.Aravind</a:t>
            </a:r>
            <a:r>
              <a:rPr dirty="0">
                <a:solidFill/>
              </a:rPr>
              <a:t> Prasad</a:t>
            </a:r>
          </a:p>
          <a:p>
            <a:pPr>
              <a:spcAft>
                <a:spcPts val="300"/>
              </a:spcAft>
              <a:defRPr sz="1500" b="0">
                <a:latin typeface="Arial"/>
              </a:defRPr>
            </a:pPr>
            <a:r>
              <a:rPr dirty="0">
                <a:solidFill/>
              </a:rPr>
              <a:t>B.E., </a:t>
            </a:r>
            <a:r>
              <a:rPr dirty="0" err="1">
                <a:solidFill/>
              </a:rPr>
              <a:t>M.Tech</a:t>
            </a:r>
            <a:r>
              <a:rPr dirty="0">
                <a:solidFill/>
              </a:rPr>
              <a:t>.</a:t>
            </a:r>
          </a:p>
          <a:p>
            <a:pPr>
              <a:spcAft>
                <a:spcPts val="300"/>
              </a:spcAft>
              <a:defRPr sz="1500" b="0">
                <a:latin typeface="Arial"/>
              </a:defRPr>
            </a:pPr>
            <a:r>
              <a:rPr dirty="0">
                <a:solidFill/>
              </a:rPr>
              <a:t>Department of AI&amp;DS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7635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latin typeface="Times New Roman"/>
              </a:defRPr>
            </a:pPr>
            <a:r>
              <a:rPr>
                <a:solidFill/>
              </a:rPr>
              <a:t>CampusPass: Privacy-Aware Student</a:t>
            </a:r>
          </a:p>
          <a:p>
            <a:pPr algn="ctr">
              <a:defRPr sz="2800" b="1">
                <a:latin typeface="Times New Roman"/>
              </a:defRPr>
            </a:pPr>
            <a:r>
              <a:rPr>
                <a:solidFill/>
              </a:rPr>
              <a:t>Entry &amp; Exit Notification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/>
              </a:rPr>
              <a:t>PRESENTATION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969264"/>
            <a:ext cx="7040880" cy="3844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sz="1650" dirty="0">
                <a:solidFill/>
              </a:rPr>
              <a:t>➢  Objective</a:t>
            </a: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sz="1650" dirty="0">
                <a:solidFill/>
              </a:rPr>
              <a:t>➢  Problem Identification</a:t>
            </a:r>
            <a:endParaRPr lang="en-IN" sz="1650" dirty="0">
              <a:solidFill/>
            </a:endParaRP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lang="en-IN" sz="1650" dirty="0">
                <a:solidFill/>
              </a:rPr>
              <a:t>➢  Flow Diagram</a:t>
            </a: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sz="1650" dirty="0">
                <a:solidFill/>
              </a:rPr>
              <a:t>➢  Literature Survey</a:t>
            </a: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sz="1650" dirty="0">
                <a:solidFill/>
              </a:rPr>
              <a:t>➢  System Architecture Diagram</a:t>
            </a:r>
            <a:endParaRPr lang="en-IN" sz="1650" dirty="0">
              <a:solidFill/>
            </a:endParaRP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lang="en-IN" sz="1650" dirty="0">
                <a:solidFill/>
              </a:rPr>
              <a:t>➢  Research Methodology (Algorithm Explanation)</a:t>
            </a: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sz="1650" dirty="0">
                <a:solidFill/>
              </a:rPr>
              <a:t>➢  Existing System Drawbacks</a:t>
            </a:r>
            <a:endParaRPr lang="en-IN" sz="1650" dirty="0">
              <a:solidFill/>
            </a:endParaRP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lang="en-IN" sz="1650" dirty="0">
                <a:solidFill/>
              </a:rPr>
              <a:t>➢  Compare Algorithm</a:t>
            </a: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sz="1650" dirty="0">
                <a:solidFill/>
              </a:rPr>
              <a:t>➢  Proposed System</a:t>
            </a: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sz="1650" dirty="0">
                <a:solidFill/>
              </a:rPr>
              <a:t>➢  Implementation Idea</a:t>
            </a: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sz="1650" dirty="0">
                <a:solidFill/>
              </a:rPr>
              <a:t>➢  Identified Modules </a:t>
            </a:r>
          </a:p>
          <a:p>
            <a:pPr>
              <a:spcAft>
                <a:spcPts val="500"/>
              </a:spcAft>
              <a:defRPr sz="1700" b="1">
                <a:latin typeface="Times New Roman"/>
              </a:defRPr>
            </a:pPr>
            <a:r>
              <a:rPr sz="1650" dirty="0">
                <a:solidFill/>
              </a:rPr>
              <a:t>➢ 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/>
              </a:rPr>
              <a:t>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9707" y="1335418"/>
            <a:ext cx="8221851" cy="3170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To develop a privacy-aware campus gate system for automated student ENTRY/EXIT detection.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To identify registered students using RFID-enabled ID cards.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To record only the minimum gate-event information required for notification.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To study suspicious/abnormal gate-event patterns using machine-learning techniques.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To compare One-Class SVM and DBSCAN for Normal / Suspicious Event Anomaly Detection.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To select the better-performing model using Accuracy, Precision, Recall, F1-Score and ROC-AUC.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/>
              </a:rPr>
              <a:t>PROBLEM IDENTIFICATION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754"/>
            <a:ext cx="8258272" cy="3355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RFID-based attendance and access systems can automate student identification, but many existing systems focus mainly on recording attendance.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RFID UID validation alone cannot determine whether an event pattern is normal or suspicious, such as repeated rapid scans or unusual entry/exit sequences.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Some recent systems use cloud services, cameras or biometric verification, increasing infrastructure and privacy concerns.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Continuous location tracking is unnecessary for a campus gate notification requirement.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Therefore, a privacy-aware gate-event system with an ML-based suspicious-event classification layer is proposed.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191919"/>
                </a:solidFill>
              </a:rPr>
              <a:t>FLOW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CCC50E8-E8AD-50F2-AFCC-B1A05CA66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03" y="1382131"/>
            <a:ext cx="8400081" cy="33087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/>
              </a:rPr>
              <a:t>LITERATURE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108888"/>
              </p:ext>
            </p:extLst>
          </p:nvPr>
        </p:nvGraphicFramePr>
        <p:xfrm>
          <a:off x="411480" y="1143000"/>
          <a:ext cx="8275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S.No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Study / Year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Focus / Key Finding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Limitation / Gap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 err="1">
                          <a:solidFill>
                            <a:srgbClr val="191919"/>
                          </a:solidFill>
                        </a:rPr>
                        <a:t>Irahmanna</a:t>
                      </a: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 et al.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RFID + ESP32 + RC522 + MySQL for real-time student attendance.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Attendance-focused; does not address privacy-aware gate notification.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Pardani &amp; Yulianti (2026)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RFID + ESP32 + cloud + smart door lock; UID validation and access control.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Cloud latency/stability; not parent-notification focused.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Charulatha et al.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ESP32 + RC522 RFID; registered-ID matching and access decision.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RFID validates identity but does not analyze suspicious event patterns.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Hutabarat et al. (2026)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RFID + ESP32 + MySQL + web interface for campus presence management.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Primarily attendance management; limited privacy-aware event intelligence.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Ege &amp; Özdemir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Non-biometric RFID attendance with additional verification to reduce proxy attendance.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Adds verification hardware; not focused on campus gate ENTRY/EXIT notifications.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/>
              </a:rPr>
              <a:t>LITERATURE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88695"/>
              </p:ext>
            </p:extLst>
          </p:nvPr>
        </p:nvGraphicFramePr>
        <p:xfrm>
          <a:off x="411480" y="1143000"/>
          <a:ext cx="8275320" cy="3634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just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dirty="0" err="1">
                          <a:solidFill>
                            <a:srgbClr val="FFFFFF"/>
                          </a:solidFill>
                        </a:rPr>
                        <a:t>S.No</a:t>
                      </a:r>
                      <a:endParaRPr sz="12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FFFFFF"/>
                          </a:solidFill>
                        </a:rPr>
                        <a:t>Study / Year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Focus / Key Finding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Limitation / Gap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RFID IoT Identification &amp; Attendance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RFID with camera/facial verification for entry and fraud monitoring.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Camera/biometric data increases privacy scope.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RFID Attendance + IFTTT (2024)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RFID attendance with database processing and instant notifications.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Attendance-focused; no suspicious-event analysis.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Intelligent Attendance &amp; Energy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RFID + ESP32 for attendance and automated facility control.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No anomaly detection or privacy-minimization layer.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RFID Attendance &amp; Monitoring (2024)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RFID/NodeMCU with cloud-sheet based monitoring.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Monitoring-oriented; limited ML intelligence.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He et al.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Optimized One-Class SVM for multivariate telemetry anomaly detection.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Telemetry-specific; not RFID gate-event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/>
              </a:rPr>
              <a:t>LITERATURE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170564"/>
              </p:ext>
            </p:extLst>
          </p:nvPr>
        </p:nvGraphicFramePr>
        <p:xfrm>
          <a:off x="411480" y="1143000"/>
          <a:ext cx="82753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just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dirty="0" err="1">
                          <a:solidFill>
                            <a:srgbClr val="FFFFFF"/>
                          </a:solidFill>
                        </a:rPr>
                        <a:t>S.No</a:t>
                      </a:r>
                      <a:endParaRPr sz="12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FFFFFF"/>
                          </a:solidFill>
                        </a:rPr>
                        <a:t>Study / Year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Focus / Key Finding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Limitation / Gap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Unsupervised Anomaly Detection Study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Compared OCSVM, LOF, Isolation Forest and Robust Covariance.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Evaluation context differs from campus gate-event sequences.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Muzakir &amp; Hendri (2025)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IoT + RFID attendance backend with real-time data management.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Attendance/management focus; no event anomaly model.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Darmi et al.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RFID + ESP32 + WhatsApp notification for real-time attendance.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Notification-centric; no suspicious sequence detection.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Enhanced Student Attendance (2025)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RFID + IoT + real-time database and web communication.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Attendance UX focus; not privacy-aware anomaly detection.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Student Attendance System Using RFID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RFID-based student attendance and access monitoring.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19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Attendance system; no ML anomaly comparison.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>
                  <a:srgbClr val="191919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191919"/>
                </a:solidFill>
              </a:rPr>
              <a:t>SYSTEM ARCHITECTURE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353D228-79B1-2CC0-9A4D-706633690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126013"/>
            <a:ext cx="8868130" cy="36194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>
                  <a:srgbClr val="191919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42" y="356830"/>
            <a:ext cx="7931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>
                  <a:srgbClr val="191919"/>
                </a:solidFill>
              </a:rPr>
              <a:t>RESEARCH METHODOLOGY</a:t>
            </a:r>
            <a:endParaRPr lang="en-IN" dirty="0">
              <a:solidFill>
                <a:srgbClr val="191919"/>
              </a:solidFill>
            </a:endParaRPr>
          </a:p>
          <a:p>
            <a:pPr algn="ctr">
              <a:defRPr sz="2700" b="1">
                <a:solidFill>
                  <a:srgbClr val="000000"/>
                </a:solidFill>
                <a:latin typeface="Times New Roman"/>
              </a:defRPr>
            </a:pPr>
            <a:endParaRPr dirty="0">
              <a:solidFill>
                <a:srgbClr val="191919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3142" y="1280160"/>
            <a:ext cx="2423160" cy="914400"/>
          </a:xfrm>
          <a:prstGeom prst="roundRect">
            <a:avLst>
              <a:gd name="adj" fmla="val 9887"/>
            </a:avLst>
          </a:prstGeom>
          <a:solidFill>
            <a:srgbClr val="F8FAFD"/>
          </a:solidFill>
          <a:ln w="16510">
            <a:solidFill>
              <a:srgbClr val="2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1C3A69"/>
                </a:solidFill>
                <a:latin typeface="Arial"/>
              </a:defRPr>
            </a:pPr>
            <a:r>
              <a:rPr dirty="0">
                <a:solidFill>
                  <a:srgbClr val="191919"/>
                </a:solidFill>
                <a:latin typeface="Arial"/>
              </a:rPr>
              <a:t>ALGORITHM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rPr dirty="0">
                <a:solidFill>
                  <a:srgbClr val="191919"/>
                </a:solidFill>
                <a:latin typeface="Arial"/>
              </a:rPr>
              <a:t>ONE-CLASS SVM</a:t>
            </a:r>
            <a:br>
              <a:rPr dirty="0"/>
            </a:br>
            <a:r>
              <a:rPr dirty="0">
                <a:solidFill>
                  <a:srgbClr val="191919"/>
                </a:solidFill>
                <a:latin typeface="Arial"/>
              </a:rPr>
              <a:t>Learns a boundary around normal event </a:t>
            </a:r>
            <a:r>
              <a:rPr dirty="0" err="1">
                <a:solidFill>
                  <a:srgbClr val="191919"/>
                </a:solidFill>
                <a:latin typeface="Arial"/>
              </a:rPr>
              <a:t>behaviour</a:t>
            </a:r>
            <a:r>
              <a:rPr dirty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4902" y="1273573"/>
            <a:ext cx="2484378" cy="914401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1C3A69"/>
                </a:solidFill>
                <a:latin typeface="Arial"/>
              </a:defRPr>
            </a:pPr>
            <a:r>
              <a:rPr dirty="0">
                <a:solidFill>
                  <a:srgbClr val="191919"/>
                </a:solidFill>
                <a:latin typeface="Arial"/>
              </a:rPr>
              <a:t>ALGORITHM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rPr dirty="0">
                <a:solidFill>
                  <a:srgbClr val="191919"/>
                </a:solidFill>
                <a:latin typeface="Arial"/>
              </a:rPr>
              <a:t>DBSCAN</a:t>
            </a:r>
            <a:br>
              <a:rPr dirty="0"/>
            </a:br>
            <a:r>
              <a:rPr dirty="0">
                <a:solidFill>
                  <a:srgbClr val="191919"/>
                </a:solidFill>
                <a:latin typeface="Arial"/>
              </a:rPr>
              <a:t>Finds dense event groups and noise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73573"/>
            <a:ext cx="2423160" cy="91440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377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1C3A69"/>
                </a:solidFill>
                <a:latin typeface="Arial"/>
              </a:defRPr>
            </a:pPr>
            <a:r>
              <a:rPr dirty="0">
                <a:solidFill>
                  <a:srgbClr val="191919"/>
                </a:solidFill>
                <a:latin typeface="Arial"/>
              </a:rPr>
              <a:t>EVALUATION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rgbClr val="232323"/>
                </a:solidFill>
                <a:latin typeface="Arial"/>
              </a:defRPr>
            </a:pPr>
            <a:r>
              <a:rPr dirty="0">
                <a:solidFill>
                  <a:srgbClr val="191919"/>
                </a:solidFill>
                <a:latin typeface="Arial"/>
              </a:rPr>
              <a:t>Accuracy, Precision, Recall,</a:t>
            </a:r>
            <a:br>
              <a:rPr dirty="0"/>
            </a:br>
            <a:r>
              <a:rPr dirty="0">
                <a:solidFill>
                  <a:srgbClr val="191919"/>
                </a:solidFill>
                <a:latin typeface="Arial"/>
              </a:rPr>
              <a:t>F1-Score and ROC-AUC.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1750"/>
            <a:ext cx="7406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 and prepare gate-event feature vectors.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Scale/encode the event features before modeling.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 One-Class SVM on normal-event </a:t>
            </a:r>
            <a:r>
              <a:rPr sz="1650" dirty="0" err="1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sz="165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DBSCAN to identify dense groups and noise.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Classify events as Normal or Suspicious.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both algorithms using the selected evaluation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/>
              </a:rPr>
              <a:t>EXISTING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3" y="1326035"/>
            <a:ext cx="8398687" cy="313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RFID systems mainly record attendance or access events.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A registered UID is generally accepted or rejected using rule-based validation.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Many systems store attendance records in local or cloud databases.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Some systems add smart locks, dashboards, cameras or biometric verification.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Parent notification is not the primary focus in most attendance systems.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RFID alone does not identify suspicious event patterns such as unusual repeated scans.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  <a:latin typeface="Times New Roman"/>
              </a:defRPr>
            </a:pPr>
            <a:r>
              <a:rPr sz="165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Continuous tracking or biometric methods can create additional privacy concerns.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76CEB-71BA-60F7-5A24-4FC104510417}"/>
              </a:ext>
            </a:extLst>
          </p:cNvPr>
          <p:cNvSpPr txBox="1"/>
          <p:nvPr/>
        </p:nvSpPr>
        <p:spPr>
          <a:xfrm>
            <a:off x="751667" y="993279"/>
            <a:ext cx="141057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700" b="1" dirty="0"/>
              <a:t>DRAWBACKS: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>
                  <a:srgbClr val="191919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191919"/>
                </a:solidFill>
              </a:rPr>
              <a:t>COMPARE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54837"/>
              </p:ext>
            </p:extLst>
          </p:nvPr>
        </p:nvGraphicFramePr>
        <p:xfrm>
          <a:off x="640080" y="1188720"/>
          <a:ext cx="7909559" cy="3554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 algn="just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One-Class SVM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DBSCAN</a:t>
                      </a:r>
                    </a:p>
                  </a:txBody>
                  <a:tcPr>
                    <a:solidFill>
                      <a:srgbClr val="2A67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just">
                        <a:defRPr sz="1060" b="1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Learning idea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Learns a boundary around normal behaviour.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Finds dense clusters and labels sparse points as noise.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just">
                        <a:defRPr sz="1060" b="1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Main parameters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ν, kernel and γ.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ε and MinPts.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just">
                        <a:defRPr sz="1060" b="1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Best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Normal-behaviour modelling with limited anomaly labels.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Density-based event grouping and outlier discovery.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just">
                        <a:defRPr sz="1060" b="1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Non-linear patterns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Strong with suitable kernels.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Naturally handles irregular cluster shapes.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just">
                        <a:defRPr sz="1060" b="1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Sensitivity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Sensitive to scaling and parameter selection.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Sensitive to ε/MinPts and varying density.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just">
                        <a:defRPr sz="1060" b="1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 err="1">
                          <a:solidFill>
                            <a:srgbClr val="191919"/>
                          </a:solidFill>
                        </a:rPr>
                        <a:t>CampusPass</a:t>
                      </a: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 role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Primary one-class boundary model to test.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>
                          <a:solidFill>
                            <a:srgbClr val="191919"/>
                          </a:solidFill>
                        </a:rPr>
                        <a:t>Alternative density-based anomaly model to test.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just">
                        <a:defRPr sz="1060" b="1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Final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Based on Accuracy, Precision, Recall, F1-Score and ROC-AUC.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060">
                          <a:solidFill>
                            <a:srgbClr val="232323"/>
                          </a:solidFill>
                          <a:latin typeface="Arial"/>
                        </a:defRPr>
                      </a:pPr>
                      <a:r>
                        <a:rPr sz="1200" dirty="0">
                          <a:solidFill>
                            <a:srgbClr val="191919"/>
                          </a:solidFill>
                        </a:rPr>
                        <a:t>Based on the same evaluation metrics.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>
                  <a:srgbClr val="191919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191919"/>
                </a:solidFill>
              </a:rPr>
              <a:t>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9966" y="1065276"/>
            <a:ext cx="8562814" cy="4100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RFID Student Identification – Reads the unique UID from the student's RFID-enabled ID card.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 Event Detection – Identifies the gate and classifies the event as ENTRY or EXIT.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Preprocessing – Cleans and encodes event records before analysis.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 – Derives scan interval, repeated-scan count, time-of-day and entry/exit sequence features.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Anomaly Detection – Compares One-Class SVM and DBSCAN for normal/suspicious event detection.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Event Management – Stores only UID, gate, direction and timestamp required for the gate event.</a:t>
            </a:r>
          </a:p>
          <a:p>
            <a:pPr marL="285750" indent="-285750" algn="just">
              <a:lnSpc>
                <a:spcPct val="105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232323"/>
                </a:solidFill>
                <a:latin typeface="Times New Roman"/>
              </a:defRPr>
            </a:pPr>
            <a:r>
              <a:rPr sz="16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Parent Notification – Sends a simple notification for confirmed student ENTRY/EXIT events.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>
                  <a:srgbClr val="191919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>
                  <a:srgbClr val="191919"/>
                </a:solidFill>
              </a:rPr>
              <a:t>IMPLEMENTATION IDEA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CB2A7CC-800E-E974-E128-EC8A41A645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278"/>
          <a:stretch>
            <a:fillRect/>
          </a:stretch>
        </p:blipFill>
        <p:spPr>
          <a:xfrm>
            <a:off x="233094" y="1064307"/>
            <a:ext cx="8677811" cy="39959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>
                <a:solidFill/>
              </a:rPr>
              <a:t>IDENTIFIED MODULES 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657600" cy="86868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C3A69"/>
                </a:solidFill>
                <a:latin typeface="Arial"/>
              </a:defRPr>
            </a:pPr>
            <a:r>
              <a:rPr>
                <a:solidFill/>
              </a:rPr>
              <a:t>MODULE 1</a:t>
            </a:r>
          </a:p>
          <a:p>
            <a:pPr algn="ctr">
              <a:defRPr sz="1400" b="1">
                <a:solidFill>
                  <a:srgbClr val="232323"/>
                </a:solidFill>
                <a:latin typeface="Arial"/>
              </a:defRPr>
            </a:pPr>
            <a:r>
              <a:rPr>
                <a:solidFill/>
              </a:rPr>
              <a:t>RFID Student Identification</a:t>
            </a:r>
          </a:p>
          <a:p>
            <a:pPr algn="ctr">
              <a:defRPr sz="1050">
                <a:solidFill>
                  <a:srgbClr val="232323"/>
                </a:solidFill>
                <a:latin typeface="Arial"/>
              </a:defRPr>
            </a:pPr>
            <a:r>
              <a:rPr>
                <a:solidFill/>
              </a:rPr>
              <a:t>Reads and validates the student UID.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234440"/>
            <a:ext cx="3657600" cy="86868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C3A69"/>
                </a:solidFill>
                <a:latin typeface="Arial"/>
              </a:defRPr>
            </a:pPr>
            <a:r>
              <a:rPr>
                <a:solidFill/>
              </a:rPr>
              <a:t>MODULE 2</a:t>
            </a:r>
          </a:p>
          <a:p>
            <a:pPr algn="ctr">
              <a:defRPr sz="1400" b="1">
                <a:solidFill>
                  <a:srgbClr val="232323"/>
                </a:solidFill>
                <a:latin typeface="Arial"/>
              </a:defRPr>
            </a:pPr>
            <a:r>
              <a:rPr>
                <a:solidFill/>
              </a:rPr>
              <a:t>Gate Detection</a:t>
            </a:r>
          </a:p>
          <a:p>
            <a:pPr algn="ctr">
              <a:defRPr sz="1050">
                <a:solidFill>
                  <a:srgbClr val="232323"/>
                </a:solidFill>
                <a:latin typeface="Arial"/>
              </a:defRPr>
            </a:pPr>
            <a:r>
              <a:rPr>
                <a:solidFill/>
              </a:rPr>
              <a:t>Determines ENTRY or EXIT from the gate reader.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3657600" cy="86868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C3A69"/>
                </a:solidFill>
                <a:latin typeface="Arial"/>
              </a:defRPr>
            </a:pPr>
            <a:r>
              <a:rPr>
                <a:solidFill/>
              </a:rPr>
              <a:t>MODULE 3</a:t>
            </a:r>
          </a:p>
          <a:p>
            <a:pPr algn="ctr">
              <a:defRPr sz="1400" b="1">
                <a:solidFill>
                  <a:srgbClr val="232323"/>
                </a:solidFill>
                <a:latin typeface="Arial"/>
              </a:defRPr>
            </a:pPr>
            <a:r>
              <a:rPr>
                <a:solidFill/>
              </a:rPr>
              <a:t>Event Feature Engineering</a:t>
            </a:r>
          </a:p>
          <a:p>
            <a:pPr algn="ctr">
              <a:defRPr sz="1050">
                <a:solidFill>
                  <a:srgbClr val="232323"/>
                </a:solidFill>
                <a:latin typeface="Arial"/>
              </a:defRPr>
            </a:pPr>
            <a:r>
              <a:rPr>
                <a:solidFill/>
              </a:rPr>
              <a:t>Generates features from gate-event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23160"/>
            <a:ext cx="3657600" cy="86868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C3A69"/>
                </a:solidFill>
                <a:latin typeface="Arial"/>
              </a:defRPr>
            </a:pPr>
            <a:r>
              <a:rPr>
                <a:solidFill/>
              </a:rPr>
              <a:t>MODULE 4</a:t>
            </a:r>
          </a:p>
          <a:p>
            <a:pPr algn="ctr">
              <a:defRPr sz="1400" b="1">
                <a:solidFill>
                  <a:srgbClr val="232323"/>
                </a:solidFill>
                <a:latin typeface="Arial"/>
              </a:defRPr>
            </a:pPr>
            <a:r>
              <a:rPr>
                <a:solidFill/>
              </a:rPr>
              <a:t>ML Anomaly Detection</a:t>
            </a:r>
          </a:p>
          <a:p>
            <a:pPr algn="ctr">
              <a:defRPr sz="1050">
                <a:solidFill>
                  <a:srgbClr val="232323"/>
                </a:solidFill>
                <a:latin typeface="Arial"/>
              </a:defRPr>
            </a:pPr>
            <a:r>
              <a:rPr>
                <a:solidFill/>
              </a:rPr>
              <a:t>Compares One-Class SVM and DBSCAN.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611880"/>
            <a:ext cx="3657600" cy="868680"/>
          </a:xfrm>
          <a:prstGeom prst="roundRect">
            <a:avLst/>
          </a:prstGeom>
          <a:solidFill>
            <a:srgbClr val="F8FAFD"/>
          </a:solidFill>
          <a:ln w="16510">
            <a:solidFill>
              <a:srgbClr val="2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C3A69"/>
                </a:solidFill>
                <a:latin typeface="Arial"/>
              </a:defRPr>
            </a:pPr>
            <a:r>
              <a:rPr>
                <a:solidFill/>
              </a:rPr>
              <a:t>MODULE 5</a:t>
            </a:r>
          </a:p>
          <a:p>
            <a:pPr algn="ctr">
              <a:defRPr sz="1400" b="1">
                <a:solidFill>
                  <a:srgbClr val="232323"/>
                </a:solidFill>
                <a:latin typeface="Arial"/>
              </a:defRPr>
            </a:pPr>
            <a:r>
              <a:rPr>
                <a:solidFill/>
              </a:rPr>
              <a:t>Database &amp; Parent Notification</a:t>
            </a:r>
          </a:p>
          <a:p>
            <a:pPr algn="ctr">
              <a:defRPr sz="1050">
                <a:solidFill>
                  <a:srgbClr val="232323"/>
                </a:solidFill>
                <a:latin typeface="Arial"/>
              </a:defRPr>
            </a:pPr>
            <a:r>
              <a:rPr>
                <a:solidFill/>
              </a:rPr>
              <a:t>Stores the gate event and sends the parent alert.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>
                <a:solidFill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932688"/>
            <a:ext cx="7845552" cy="22860"/>
          </a:xfrm>
          <a:prstGeom prst="rect">
            <a:avLst/>
          </a:prstGeom>
          <a:solidFill>
            <a:srgbClr val="2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1325880"/>
            <a:ext cx="8480208" cy="341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620">
                <a:solidFill>
                  <a:srgbClr val="232323"/>
                </a:solidFill>
                <a:latin typeface="Times New Roman"/>
              </a:defRPr>
            </a:pPr>
            <a:r>
              <a:rPr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The proposed </a:t>
            </a:r>
            <a:r>
              <a:rPr dirty="0" err="1">
                <a:solidFill/>
                <a:latin typeface="Arial" panose="020B0604020202020204" pitchFamily="34" charset="0"/>
                <a:cs typeface="Arial" panose="020B0604020202020204" pitchFamily="34" charset="0"/>
              </a:rPr>
              <a:t>CampusPass</a:t>
            </a:r>
            <a:r>
              <a:rPr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 system changes campus entry/exit monitoring from simple RFID recording to privacy-aware intelligent event analysis.</a:t>
            </a:r>
          </a:p>
          <a:p>
            <a:pPr marL="285750" indent="-285750" algn="just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620">
                <a:solidFill>
                  <a:srgbClr val="232323"/>
                </a:solidFill>
                <a:latin typeface="Times New Roman"/>
              </a:defRPr>
            </a:pPr>
            <a:r>
              <a:rPr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RFID and ESP32 provide the basic identification and gate-event pipeline.</a:t>
            </a:r>
          </a:p>
          <a:p>
            <a:pPr marL="285750" indent="-285750" algn="just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620">
                <a:solidFill>
                  <a:srgbClr val="232323"/>
                </a:solidFill>
                <a:latin typeface="Times New Roman"/>
              </a:defRPr>
            </a:pPr>
            <a:r>
              <a:rPr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One-Class SVM and DBSCAN provide two ML approaches for Normal / Suspicious event anomaly detection.</a:t>
            </a:r>
          </a:p>
          <a:p>
            <a:pPr marL="285750" indent="-285750" algn="just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620">
                <a:solidFill>
                  <a:srgbClr val="232323"/>
                </a:solidFill>
                <a:latin typeface="Times New Roman"/>
              </a:defRPr>
            </a:pPr>
            <a:r>
              <a:rPr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Their performance will be compared using Accuracy, Precision, Recall, F1-Score and ROC-AUC.</a:t>
            </a:r>
          </a:p>
          <a:p>
            <a:pPr marL="285750" indent="-285750" algn="just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620">
                <a:solidFill>
                  <a:srgbClr val="232323"/>
                </a:solidFill>
                <a:latin typeface="Times New Roman"/>
              </a:defRPr>
            </a:pPr>
            <a:r>
              <a:rPr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The better-performing model will be selected from experimental results rather than assumed in advance.</a:t>
            </a:r>
          </a:p>
          <a:p>
            <a:pPr marL="285750" indent="-285750" algn="just">
              <a:lnSpc>
                <a:spcPct val="100000"/>
              </a:lnSpc>
              <a:spcAft>
                <a:spcPts val="900"/>
              </a:spcAft>
              <a:buFont typeface="Arial" panose="020B0604020202020204" pitchFamily="34" charset="0"/>
              <a:buChar char="•"/>
              <a:defRPr sz="1620">
                <a:solidFill>
                  <a:srgbClr val="232323"/>
                </a:solidFill>
                <a:latin typeface="Times New Roman"/>
              </a:defRPr>
            </a:pPr>
            <a:r>
              <a:rPr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The final system provides parent notification while avoiding continuous student location tracking and biometric data collection</a:t>
            </a:r>
            <a:r>
              <a:rPr dirty="0">
                <a:solidFill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713232" cy="713232"/>
          </a:xfrm>
          <a:prstGeom prst="rect">
            <a:avLst/>
          </a:prstGeom>
        </p:spPr>
      </p:pic>
      <p:pic>
        <p:nvPicPr>
          <p:cNvPr id="3" name="Picture 2" descr="righ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73152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02752" y="459028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F5F5F"/>
                </a:solidFill>
                <a:latin typeface="Times New Roman"/>
              </a:defRPr>
            </a:pPr>
            <a:r>
              <a:rPr>
                <a:solidFill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latin typeface="Times New Roman"/>
              </a:defRPr>
            </a:pPr>
            <a:r>
              <a:rPr>
                <a:solidFill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1324</Words>
  <Application>Microsoft Office PowerPoint</Application>
  <PresentationFormat>On-screen Show (16:9)</PresentationFormat>
  <Paragraphs>214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SHREE HARINI</dc:creator>
  <cp:keywords/>
  <dc:description>generated using python-pptx</dc:description>
  <cp:lastModifiedBy>Shree Harini</cp:lastModifiedBy>
  <cp:revision>5</cp:revision>
  <dcterms:created xsi:type="dcterms:W3CDTF">2013-01-27T09:14:16Z</dcterms:created>
  <dcterms:modified xsi:type="dcterms:W3CDTF">2026-10-04T16:47:58Z</dcterms:modified>
  <cp:category/>
</cp:coreProperties>
</file>